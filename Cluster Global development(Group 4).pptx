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</p:sldMasterIdLst>
  <p:sldIdLst>
    <p:sldId id="256" r:id="rId2"/>
    <p:sldId id="257" r:id="rId3"/>
    <p:sldId id="276" r:id="rId4"/>
    <p:sldId id="277" r:id="rId5"/>
    <p:sldId id="289" r:id="rId6"/>
    <p:sldId id="279" r:id="rId7"/>
    <p:sldId id="278" r:id="rId8"/>
    <p:sldId id="293" r:id="rId9"/>
    <p:sldId id="291" r:id="rId10"/>
    <p:sldId id="280" r:id="rId11"/>
    <p:sldId id="303" r:id="rId12"/>
    <p:sldId id="302" r:id="rId13"/>
    <p:sldId id="282" r:id="rId14"/>
    <p:sldId id="301" r:id="rId15"/>
    <p:sldId id="284" r:id="rId16"/>
    <p:sldId id="299" r:id="rId17"/>
    <p:sldId id="300" r:id="rId18"/>
    <p:sldId id="285" r:id="rId19"/>
    <p:sldId id="304" r:id="rId20"/>
    <p:sldId id="305" r:id="rId21"/>
    <p:sldId id="298" r:id="rId22"/>
    <p:sldId id="286" r:id="rId23"/>
    <p:sldId id="288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59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77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1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6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69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40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30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3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31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132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2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6870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446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47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90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1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1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4360F-1C28-429D-9C86-3982A785CD4C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EC8EE-2F94-4030-AB6C-F6F2F653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50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514E406-345B-A607-2F8E-3DCF6961DC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09903" y="549780"/>
            <a:ext cx="1155595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en-US" altLang="en-US" sz="44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P622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4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CLUSTERING GLOBAL DEVELOPMENT</a:t>
            </a:r>
            <a:br>
              <a:rPr lang="en-IN" sz="1200" b="0" i="0" dirty="0">
                <a:effectLst/>
                <a:latin typeface="system-ui"/>
              </a:rPr>
            </a:b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CD837-6A49-8991-C6E6-EB572CDA5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9535" y="3657598"/>
            <a:ext cx="9684774" cy="234991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Team- 4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Science Course Project)</a:t>
            </a:r>
          </a:p>
          <a:p>
            <a:pPr>
              <a:lnSpc>
                <a:spcPct val="115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18-Jan-2026</a:t>
            </a:r>
          </a:p>
          <a:p>
            <a:pPr>
              <a:lnSpc>
                <a:spcPct val="115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Scikit-learn,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79122-A84E-9294-F2F1-11AAEE3C6DC8}"/>
              </a:ext>
            </a:extLst>
          </p:cNvPr>
          <p:cNvSpPr txBox="1"/>
          <p:nvPr/>
        </p:nvSpPr>
        <p:spPr>
          <a:xfrm>
            <a:off x="2000864" y="2349910"/>
            <a:ext cx="80821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Creating clusters on global development measurement dataset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 Machine Learning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ExcelR - YouTube">
            <a:extLst>
              <a:ext uri="{FF2B5EF4-FFF2-40B4-BE49-F238E27FC236}">
                <a16:creationId xmlns:a16="http://schemas.microsoft.com/office/drawing/2014/main" id="{707EBF2A-96A9-ABEF-36F5-984C0CE0D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6344101"/>
            <a:ext cx="1445342" cy="51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26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97E0-7404-0725-F9AF-411EC62B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10C5-8F9F-04F8-628B-A7C227226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global development indicators across countries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group countries with similar socio-economic characteristics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analysis using unsupervised learning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meaningful insights for policy and development planning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1BDC5F92-1FE7-C81D-6AEE-C29A82A1C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451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D1DE-F366-D992-42F7-875BDF1E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7F91-2522-AA15-BB2B-D303F94B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Scope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24896C78-01C4-E370-4E59-BAF86212E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147A892-82AD-6C7D-4D75-432F6229E1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147" y="2067911"/>
            <a:ext cx="7972054" cy="18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Countries differ widely in economic and development indicators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comparison across multiple parameters is complex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an automated clustering approach to identify similar country groups</a:t>
            </a:r>
          </a:p>
        </p:txBody>
      </p:sp>
    </p:spTree>
    <p:extLst>
      <p:ext uri="{BB962C8B-B14F-4D97-AF65-F5344CB8AC3E}">
        <p14:creationId xmlns:p14="http://schemas.microsoft.com/office/powerpoint/2010/main" val="20737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186E-1356-BFB9-B425-961AE6A3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CF40-E2E4-5BA4-D105-FC0BDDCD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8855F90F-2E46-0665-7C21-8D3AEF846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74DB4E6-3C00-1B82-3298-605AAAF5A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0373" y="2067911"/>
            <a:ext cx="5748690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Global Development Measurement Dataset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Records: Multiple countries across the globe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Type: Numerical and categorical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World Development Indicators</a:t>
            </a:r>
          </a:p>
        </p:txBody>
      </p:sp>
    </p:spTree>
    <p:extLst>
      <p:ext uri="{BB962C8B-B14F-4D97-AF65-F5344CB8AC3E}">
        <p14:creationId xmlns:p14="http://schemas.microsoft.com/office/powerpoint/2010/main" val="152882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22F5-DAD7-017E-ECC6-0769594A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A110-8E14-A65B-4B9D-BAD3060C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100" y="373041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5F4EE452-6029-B633-F1E2-E059879EB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2">
            <a:extLst>
              <a:ext uri="{FF2B5EF4-FFF2-40B4-BE49-F238E27FC236}">
                <a16:creationId xmlns:a16="http://schemas.microsoft.com/office/drawing/2014/main" id="{B859A916-7572-D266-F35E-50971982BB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E960C9B0-EE68-54BD-4978-53011CD8B0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20">
            <a:extLst>
              <a:ext uri="{FF2B5EF4-FFF2-40B4-BE49-F238E27FC236}">
                <a16:creationId xmlns:a16="http://schemas.microsoft.com/office/drawing/2014/main" id="{0DF6E2F8-C267-A121-F63D-39794D2337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77;p19">
            <a:extLst>
              <a:ext uri="{FF2B5EF4-FFF2-40B4-BE49-F238E27FC236}">
                <a16:creationId xmlns:a16="http://schemas.microsoft.com/office/drawing/2014/main" id="{EEF6FD41-3A8D-934A-91B7-C2D215D50E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550" y="1486120"/>
            <a:ext cx="7127874" cy="4840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7250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3FB3-3156-EFF3-5215-4D4679FC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8DF9-7B98-3C20-92FA-D489CF94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0" y="774883"/>
            <a:ext cx="9206553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5CC67432-32D4-6EE0-A16B-0DE49697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7C88E-49FB-8764-9D95-07AAEA283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713" y="1890855"/>
            <a:ext cx="9485813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~15+ numerical development indicators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 mean imputation (100% completeness)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Standard Scaler to normalize all features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scale bias across GDP, health, and population metrics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Prepared optimized feature matrix for clustering</a:t>
            </a:r>
          </a:p>
        </p:txBody>
      </p:sp>
    </p:spTree>
    <p:extLst>
      <p:ext uri="{BB962C8B-B14F-4D97-AF65-F5344CB8AC3E}">
        <p14:creationId xmlns:p14="http://schemas.microsoft.com/office/powerpoint/2010/main" val="426410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BBB83-2378-C7CD-B972-5A7CA2FD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A201-380E-2AE5-D2E9-F3C02F82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3E0D07A1-44B3-E4E3-FE05-E2973F5FD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0C8B862-C867-08E5-0C1D-26A27AE26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5242" y="2067911"/>
            <a:ext cx="2856872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Birth Rate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Usage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Infant Mortality Rate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Expenditure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Ease of Doing Business</a:t>
            </a:r>
          </a:p>
        </p:txBody>
      </p:sp>
    </p:spTree>
    <p:extLst>
      <p:ext uri="{BB962C8B-B14F-4D97-AF65-F5344CB8AC3E}">
        <p14:creationId xmlns:p14="http://schemas.microsoft.com/office/powerpoint/2010/main" val="371919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3546-FB2F-27A9-7BCB-6E8D1B8F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878" y="312089"/>
            <a:ext cx="8610600" cy="1293028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 summary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CBF8AE-AF0D-BECF-70F1-7129EFC0D8C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311442" y="1789137"/>
            <a:ext cx="6356684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dataset structure and data types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missing values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 of key indicators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Observed variations across countries</a:t>
            </a:r>
          </a:p>
        </p:txBody>
      </p:sp>
      <p:pic>
        <p:nvPicPr>
          <p:cNvPr id="5" name="Picture 2" descr="ExcelR - YouTube">
            <a:extLst>
              <a:ext uri="{FF2B5EF4-FFF2-40B4-BE49-F238E27FC236}">
                <a16:creationId xmlns:a16="http://schemas.microsoft.com/office/drawing/2014/main" id="{77E27974-B9C3-EC1A-543A-FBB92BD53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697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61F8-0615-D2BA-2434-F34B9E88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09" y="639762"/>
            <a:ext cx="8610600" cy="1293028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ExcelR - YouTube">
            <a:extLst>
              <a:ext uri="{FF2B5EF4-FFF2-40B4-BE49-F238E27FC236}">
                <a16:creationId xmlns:a16="http://schemas.microsoft.com/office/drawing/2014/main" id="{9314158D-D133-87C1-C13C-08BB55A74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FD87CE23-F3A1-E083-7CEE-1C7894A6EC6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63310"/>
            <a:ext cx="5334000" cy="388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6F5F7629-184B-F703-8E1B-131CB46B29B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06" y="2193925"/>
            <a:ext cx="5072588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84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2863-926C-B2CB-303C-0C821EA5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AA55-72E8-B198-DB44-4AAA689F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Approach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71605893-1F20-2DAD-9F88-68F7C165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9E5D608-C011-BF41-A335-46D1A7013F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9506" y="2198631"/>
            <a:ext cx="4956806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K-Means clustering algorithm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technique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Groups countries based on feature similarity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number of clusters (K)</a:t>
            </a:r>
          </a:p>
        </p:txBody>
      </p:sp>
    </p:spTree>
    <p:extLst>
      <p:ext uri="{BB962C8B-B14F-4D97-AF65-F5344CB8AC3E}">
        <p14:creationId xmlns:p14="http://schemas.microsoft.com/office/powerpoint/2010/main" val="1858048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7AEF-471C-0A4F-1715-D6A09536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GENDER COMPARISON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9F22EB2A-50EF-C4C0-CDD4-60DF057462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399" y="2226401"/>
            <a:ext cx="4965202" cy="395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63E4895C-AAE8-5449-E707-52D3D9429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35765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684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0359-B476-1788-7E98-7C7E2AAA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EXPECTANCY COMPARISON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99259EF5-CABF-1B85-EA08-49EDEE0CB1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039" y="2069314"/>
            <a:ext cx="5001519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xcelR - YouTube">
            <a:extLst>
              <a:ext uri="{FF2B5EF4-FFF2-40B4-BE49-F238E27FC236}">
                <a16:creationId xmlns:a16="http://schemas.microsoft.com/office/drawing/2014/main" id="{82A59C26-A6F3-88C5-DAB3-6D6024B50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74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8DE7-2EE1-17C9-B711-0B405218D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567E-4C78-BC12-E7DA-2C0E1328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3E15CC0B-123C-2F74-0B0F-70E0921DC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4E6C431-B9D2-E4B7-4E04-1550152A6B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700" y="2506408"/>
            <a:ext cx="5415265" cy="18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Principal Component Analysis (PCA)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high-dimensional data to 2 components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visualization and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15145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FBD1-D14D-E43A-9A49-A120BD44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39762"/>
            <a:ext cx="8610600" cy="1293028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 METHOD TO GET OPTIMAL K VALUE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D0E84E0-CA84-EBDC-7C2A-8DC9A9925C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582" y="2193925"/>
            <a:ext cx="5264835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8328DB7E-20E3-466D-440D-22831CB6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809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FA416-657C-A1C7-F80A-FF295B5B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1FCD-7364-9F9F-3B1A-ABD02894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Visualization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C7D80424-1F06-9CC0-A777-07527112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E6234025-3834-F63E-08A2-5EDE110EBC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53" y="2338108"/>
            <a:ext cx="11377255" cy="374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686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3D37-DEB4-01B9-7A10-3F52CF41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3F4E-78E5-C17E-7BAA-F64A94A5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Cluster-wise Insights 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7E142A6B-51B6-2FB5-AFD4-4E8336421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4146ADA-A7C5-0D8B-C3C1-45595D94F3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1232" y="1925416"/>
            <a:ext cx="649504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0 (Developed):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average GDP per capita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≈ 75–82 years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 &gt; 70%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1 (Developing):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GDP and energy usage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 ≈ 65–74 years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 40–70%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2 (Underdeveloped):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GDP and health expenditure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infant mortality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 &lt; 40%, life expectancy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Developing countries: Moderate indicators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Underdeveloped countries: High infant mortality, low GDP</a:t>
            </a:r>
          </a:p>
        </p:txBody>
      </p:sp>
    </p:spTree>
    <p:extLst>
      <p:ext uri="{BB962C8B-B14F-4D97-AF65-F5344CB8AC3E}">
        <p14:creationId xmlns:p14="http://schemas.microsoft.com/office/powerpoint/2010/main" val="405488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5569-6920-4C33-2EA4-92713E3B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298D-3973-EF10-04B4-A4B273C9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421" y="774883"/>
            <a:ext cx="8610600" cy="129302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(with Metrics)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7A1FD7C7-FCEE-B7CF-7532-A233696F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6326621"/>
            <a:ext cx="1494503" cy="53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5E6635E-A37F-B311-AECA-34FCA3743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1900" y="2279991"/>
            <a:ext cx="7486345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K-Means clustering for K = 2 to 6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features using Z-score normalization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reduced dimensions from ~15+ features to 2 components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2 principal components captured ~65–75% variance (approx.)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separation visually validated using PCA scatter plot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K selected based on interpretability and clear cluster separation</a:t>
            </a:r>
          </a:p>
        </p:txBody>
      </p:sp>
    </p:spTree>
    <p:extLst>
      <p:ext uri="{BB962C8B-B14F-4D97-AF65-F5344CB8AC3E}">
        <p14:creationId xmlns:p14="http://schemas.microsoft.com/office/powerpoint/2010/main" val="70089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1406-5C16-3ECE-FCC1-DFC5B845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CBD9-F024-5C35-CA93-F8E97725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042" y="780415"/>
            <a:ext cx="8610600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195761DB-EF1A-41B3-2407-2173EF2FD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C31DDD-C033-F30C-C56B-165E3A720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152" y="2193925"/>
            <a:ext cx="7539696" cy="4024313"/>
          </a:xfrm>
        </p:spPr>
      </p:pic>
    </p:spTree>
    <p:extLst>
      <p:ext uri="{BB962C8B-B14F-4D97-AF65-F5344CB8AC3E}">
        <p14:creationId xmlns:p14="http://schemas.microsoft.com/office/powerpoint/2010/main" val="146347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A486-2203-7317-03D1-C8A5F032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1836-7573-1691-D60E-2E9C932B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042" y="780415"/>
            <a:ext cx="8610600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4DD1C826-FA0A-75BA-FFF9-0514563B7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B43700-4ED6-64D8-659B-D4C45E44B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61" y="2193925"/>
            <a:ext cx="7122677" cy="4024313"/>
          </a:xfrm>
        </p:spPr>
      </p:pic>
    </p:spTree>
    <p:extLst>
      <p:ext uri="{BB962C8B-B14F-4D97-AF65-F5344CB8AC3E}">
        <p14:creationId xmlns:p14="http://schemas.microsoft.com/office/powerpoint/2010/main" val="3945102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EA63-A181-95E6-67CD-FD24E2C9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BF37-CEBB-D97B-93D4-17F1A446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042" y="780415"/>
            <a:ext cx="8610600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26A836B6-38F7-AE3B-4FBB-1C15E16D9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822283-2C57-A706-7FE8-0E231229F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152" y="2193925"/>
            <a:ext cx="7539696" cy="4024313"/>
          </a:xfrm>
        </p:spPr>
      </p:pic>
    </p:spTree>
    <p:extLst>
      <p:ext uri="{BB962C8B-B14F-4D97-AF65-F5344CB8AC3E}">
        <p14:creationId xmlns:p14="http://schemas.microsoft.com/office/powerpoint/2010/main" val="384617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4E30-9C7C-C5E6-016B-F8E38A97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1339-9152-8B5C-4AEE-C34685A4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042" y="780415"/>
            <a:ext cx="8610600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1DB1EDF3-64CB-0ECD-C0A9-9BAD22EC3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279DFA-E583-2195-7FDA-B02A5134F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7666" y="2053272"/>
            <a:ext cx="7162292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710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5EA9-341F-653D-EE96-BF60A753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DAA7-40CF-8205-BDF6-832ACC1D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0415"/>
            <a:ext cx="10912642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1785020C-B682-7AA6-2827-A0758884F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518263B-7310-A1AF-4BAB-11FF35BB1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7940" y="2073443"/>
            <a:ext cx="5904180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policymakers understand development patterns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decision-making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compared to manual analysis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future datasets</a:t>
            </a:r>
          </a:p>
        </p:txBody>
      </p:sp>
    </p:spTree>
    <p:extLst>
      <p:ext uri="{BB962C8B-B14F-4D97-AF65-F5344CB8AC3E}">
        <p14:creationId xmlns:p14="http://schemas.microsoft.com/office/powerpoint/2010/main" val="2126986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ABDC-C2B0-580B-9DB0-FAF679A4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1620-4C60-B24A-8518-E9C19263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042" y="780415"/>
            <a:ext cx="8610600" cy="1293028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4" name="Picture 2" descr="ExcelR - YouTube">
            <a:extLst>
              <a:ext uri="{FF2B5EF4-FFF2-40B4-BE49-F238E27FC236}">
                <a16:creationId xmlns:a16="http://schemas.microsoft.com/office/drawing/2014/main" id="{995A0426-2B2F-73D0-A976-0286F66DD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852" y="6256703"/>
            <a:ext cx="1691148" cy="6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A4EACCD-753B-A0E7-2525-D49F1A1632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888" y="2104235"/>
            <a:ext cx="4945585" cy="412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clustered countries using ML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Provided clear development-based grouping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Try Hierarchical / DBSCAN clustering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time-series analysis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on cloud platform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631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254E5-10EA-FD6F-51FE-666123CC7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1605"/>
            <a:ext cx="10820400" cy="40241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</a:p>
          <a:p>
            <a:pPr marL="0" indent="0" algn="ctr">
              <a:buNone/>
            </a:pPr>
            <a:r>
              <a:rPr lang="en-GB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98302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1513</TotalTime>
  <Words>462</Words>
  <Application>Microsoft Office PowerPoint</Application>
  <PresentationFormat>Widescreen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Gothic</vt:lpstr>
      <vt:lpstr>Courier New</vt:lpstr>
      <vt:lpstr>system-ui</vt:lpstr>
      <vt:lpstr>Times New Roman</vt:lpstr>
      <vt:lpstr>Vapor Trail</vt:lpstr>
      <vt:lpstr>Project: P622 – CLUSTERING GLOBAL DEVELOPMENT </vt:lpstr>
      <vt:lpstr>Business Objective</vt:lpstr>
      <vt:lpstr>Problem Statement &amp; Scope</vt:lpstr>
      <vt:lpstr>Dataset Overview</vt:lpstr>
      <vt:lpstr>Dataset Overview</vt:lpstr>
      <vt:lpstr>Data Preprocessing</vt:lpstr>
      <vt:lpstr>Key variables</vt:lpstr>
      <vt:lpstr>Eda  summary</vt:lpstr>
      <vt:lpstr>Eda  analysis</vt:lpstr>
      <vt:lpstr>Clustering Approach</vt:lpstr>
      <vt:lpstr>LIFE EXPECTANCY GENDER COMPARISON</vt:lpstr>
      <vt:lpstr>EXPECTANCY COMPARISON</vt:lpstr>
      <vt:lpstr>Dimensionality Reduction</vt:lpstr>
      <vt:lpstr>ELBOW METHOD TO GET OPTIMAL K VALUE</vt:lpstr>
      <vt:lpstr>Cluster Visualization</vt:lpstr>
      <vt:lpstr>Cluster-wise Insights </vt:lpstr>
      <vt:lpstr>Model Evaluation (with Metrics)</vt:lpstr>
      <vt:lpstr>dashboard</vt:lpstr>
      <vt:lpstr>dashboard</vt:lpstr>
      <vt:lpstr>dashboard</vt:lpstr>
      <vt:lpstr>dashboard</vt:lpstr>
      <vt:lpstr>Business Impact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Channagoudra</dc:creator>
  <cp:lastModifiedBy>Shivani Channagoudra</cp:lastModifiedBy>
  <cp:revision>14</cp:revision>
  <dcterms:created xsi:type="dcterms:W3CDTF">2025-11-01T07:33:17Z</dcterms:created>
  <dcterms:modified xsi:type="dcterms:W3CDTF">2026-01-18T12:22:15Z</dcterms:modified>
</cp:coreProperties>
</file>